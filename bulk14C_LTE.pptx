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9BA2A6-F543-4D16-84B2-8C0245FA5259}" v="7" dt="2026-04-20T14:34:53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72" d="100"/>
          <a:sy n="72" d="100"/>
        </p:scale>
        <p:origin x="90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neille Nel" userId="cdebdc37-a9b4-475b-9a09-c6495bc72c14" providerId="ADAL" clId="{6D9BA3C1-5124-48A1-872A-95C93E5EB107}"/>
    <pc:docChg chg="modSld">
      <pc:chgData name="Teneille Nel" userId="cdebdc37-a9b4-475b-9a09-c6495bc72c14" providerId="ADAL" clId="{6D9BA3C1-5124-48A1-872A-95C93E5EB107}" dt="2026-04-20T14:34:53.582" v="6" actId="13926"/>
      <pc:docMkLst>
        <pc:docMk/>
      </pc:docMkLst>
      <pc:sldChg chg="modSp">
        <pc:chgData name="Teneille Nel" userId="cdebdc37-a9b4-475b-9a09-c6495bc72c14" providerId="ADAL" clId="{6D9BA3C1-5124-48A1-872A-95C93E5EB107}" dt="2026-04-20T14:34:33.858" v="5" actId="13926"/>
        <pc:sldMkLst>
          <pc:docMk/>
          <pc:sldMk cId="1698390317" sldId="256"/>
        </pc:sldMkLst>
        <pc:graphicFrameChg chg="mod">
          <ac:chgData name="Teneille Nel" userId="cdebdc37-a9b4-475b-9a09-c6495bc72c14" providerId="ADAL" clId="{6D9BA3C1-5124-48A1-872A-95C93E5EB107}" dt="2026-04-20T14:34:28.628" v="3" actId="13926"/>
          <ac:graphicFrameMkLst>
            <pc:docMk/>
            <pc:sldMk cId="1698390317" sldId="256"/>
            <ac:graphicFrameMk id="5" creationId="{F0C16DF3-8488-40E6-B9A2-3DC4B3AF8559}"/>
          </ac:graphicFrameMkLst>
        </pc:graphicFrameChg>
        <pc:graphicFrameChg chg="mod">
          <ac:chgData name="Teneille Nel" userId="cdebdc37-a9b4-475b-9a09-c6495bc72c14" providerId="ADAL" clId="{6D9BA3C1-5124-48A1-872A-95C93E5EB107}" dt="2026-04-20T14:34:31.520" v="4" actId="13926"/>
          <ac:graphicFrameMkLst>
            <pc:docMk/>
            <pc:sldMk cId="1698390317" sldId="256"/>
            <ac:graphicFrameMk id="6" creationId="{D1BC0EC0-BB3E-449A-8C43-79076D24C590}"/>
          </ac:graphicFrameMkLst>
        </pc:graphicFrameChg>
        <pc:graphicFrameChg chg="mod">
          <ac:chgData name="Teneille Nel" userId="cdebdc37-a9b4-475b-9a09-c6495bc72c14" providerId="ADAL" clId="{6D9BA3C1-5124-48A1-872A-95C93E5EB107}" dt="2026-04-20T14:34:33.858" v="5" actId="13926"/>
          <ac:graphicFrameMkLst>
            <pc:docMk/>
            <pc:sldMk cId="1698390317" sldId="256"/>
            <ac:graphicFrameMk id="7" creationId="{C8FDF604-0C6E-44EE-887C-B3C7D5CC9F78}"/>
          </ac:graphicFrameMkLst>
        </pc:graphicFrameChg>
      </pc:sldChg>
      <pc:sldChg chg="modSp">
        <pc:chgData name="Teneille Nel" userId="cdebdc37-a9b4-475b-9a09-c6495bc72c14" providerId="ADAL" clId="{6D9BA3C1-5124-48A1-872A-95C93E5EB107}" dt="2026-04-20T14:28:42.174" v="2" actId="13926"/>
        <pc:sldMkLst>
          <pc:docMk/>
          <pc:sldMk cId="4126121268" sldId="257"/>
        </pc:sldMkLst>
        <pc:graphicFrameChg chg="mod">
          <ac:chgData name="Teneille Nel" userId="cdebdc37-a9b4-475b-9a09-c6495bc72c14" providerId="ADAL" clId="{6D9BA3C1-5124-48A1-872A-95C93E5EB107}" dt="2026-04-20T14:28:32.630" v="1" actId="13926"/>
          <ac:graphicFrameMkLst>
            <pc:docMk/>
            <pc:sldMk cId="4126121268" sldId="257"/>
            <ac:graphicFrameMk id="2" creationId="{44914E13-248B-4011-8BE2-D9FE0D87BFC2}"/>
          </ac:graphicFrameMkLst>
        </pc:graphicFrameChg>
        <pc:graphicFrameChg chg="mod">
          <ac:chgData name="Teneille Nel" userId="cdebdc37-a9b4-475b-9a09-c6495bc72c14" providerId="ADAL" clId="{6D9BA3C1-5124-48A1-872A-95C93E5EB107}" dt="2026-04-20T14:28:42.174" v="2" actId="13926"/>
          <ac:graphicFrameMkLst>
            <pc:docMk/>
            <pc:sldMk cId="4126121268" sldId="257"/>
            <ac:graphicFrameMk id="4" creationId="{0ED97ECE-C2B1-4566-A195-F6D6B91FC47B}"/>
          </ac:graphicFrameMkLst>
        </pc:graphicFrameChg>
        <pc:graphicFrameChg chg="mod">
          <ac:chgData name="Teneille Nel" userId="cdebdc37-a9b4-475b-9a09-c6495bc72c14" providerId="ADAL" clId="{6D9BA3C1-5124-48A1-872A-95C93E5EB107}" dt="2026-04-20T14:28:26.090" v="0" actId="13926"/>
          <ac:graphicFrameMkLst>
            <pc:docMk/>
            <pc:sldMk cId="4126121268" sldId="257"/>
            <ac:graphicFrameMk id="5" creationId="{6195D305-925C-4A71-B34A-0262CB3E2F85}"/>
          </ac:graphicFrameMkLst>
        </pc:graphicFrameChg>
      </pc:sldChg>
      <pc:sldChg chg="modSp">
        <pc:chgData name="Teneille Nel" userId="cdebdc37-a9b4-475b-9a09-c6495bc72c14" providerId="ADAL" clId="{6D9BA3C1-5124-48A1-872A-95C93E5EB107}" dt="2026-04-20T14:34:53.582" v="6" actId="13926"/>
        <pc:sldMkLst>
          <pc:docMk/>
          <pc:sldMk cId="924397944" sldId="258"/>
        </pc:sldMkLst>
        <pc:graphicFrameChg chg="mod">
          <ac:chgData name="Teneille Nel" userId="cdebdc37-a9b4-475b-9a09-c6495bc72c14" providerId="ADAL" clId="{6D9BA3C1-5124-48A1-872A-95C93E5EB107}" dt="2026-04-20T14:34:53.582" v="6" actId="13926"/>
          <ac:graphicFrameMkLst>
            <pc:docMk/>
            <pc:sldMk cId="924397944" sldId="258"/>
            <ac:graphicFrameMk id="6" creationId="{0DB2E3EA-4D0B-4C7C-ADB3-5C96040D221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ses0-my.sharepoint.com/personal/lmsanemeterio_us_es/Documents/Escritorio/SLU/data/Long-term%20monitoring%20site%20-bombing%20(Sweden)/14C/Copy%20of%20C14_Sample%20information_%20Long%20term%20soil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ses0-my.sharepoint.com/personal/lmsanemeterio_us_es/Documents/Escritorio/SLU/data/Long-term%20monitoring%20site%20-bombing%20(Sweden)/14C/Copy%20of%20C14_Sample%20information_%20Long%20term%20soil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uses0-my.sharepoint.com/personal/lmsanemeterio_us_es/Documents/Escritorio/SLU/data/Long-term%20monitoring%20site%20-bombing%20(Sweden)/14C/Copy%20of%20C14_Sample%20information_%20Long%20term%20soil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uses0-my.sharepoint.com/personal/lmsanemeterio_us_es/Documents/Escritorio/SLU/data/Long-term%20monitoring%20site%20-bombing%20(Sweden)/14C/Copy%20of%20C14_Sample%20information_%20Long%20term%20soil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uses0-my.sharepoint.com/personal/lmsanemeterio_us_es/Documents/Escritorio/SLU/data/Long-term%20monitoring%20site%20-bombing%20(Sweden)/14C/Copy%20of%20C14_Sample%20information_%20Long%20term%20soil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uses0-my.sharepoint.com/personal/lmsanemeterio_us_es/Documents/Escritorio/SLU/data/Long-term%20monitoring%20site%20-bombing%20(Sweden)/14C/Copy%20of%20C14_Sample%20information_%20Long%20term%20soil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uses0-my.sharepoint.com/personal/lmsanemeterio_us_es/Documents/Escritorio/SLU/data/Long-term%20monitoring%20site%20-bombing%20(Sweden)/14C/Copy%20of%20C14_Sample%20information_%20Long%20term%20soil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uses0-my.sharepoint.com/personal/lmsanemeterio_us_es/Documents/Escritorio/SLU/data/Long-term%20monitoring%20site%20-bombing%20(Sweden)/14C/Copy%20of%20C14_Sample%20information_%20Long%20term%20soil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uses0-my.sharepoint.com/personal/lmsanemeterio_us_es/Documents/Escritorio/SLU/data/Long-term%20monitoring%20site%20-bombing%20(Sweden)/14C/Copy%20of%20C14_Sample%20information_%20Long%20term%20soil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sv-SE"/>
              <a:t>Fjärdingslöv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sv-S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Fjärdingslöv!$I$2:$I$16</c:f>
                <c:numCache>
                  <c:formatCode>General</c:formatCode>
                  <c:ptCount val="15"/>
                  <c:pt idx="0">
                    <c:v>1.8</c:v>
                  </c:pt>
                  <c:pt idx="1">
                    <c:v>2.2999999999999998</c:v>
                  </c:pt>
                  <c:pt idx="2">
                    <c:v>2.4</c:v>
                  </c:pt>
                  <c:pt idx="3">
                    <c:v>1.9</c:v>
                  </c:pt>
                  <c:pt idx="4">
                    <c:v>2.2999999999999998</c:v>
                  </c:pt>
                  <c:pt idx="5">
                    <c:v>2.2999999999999998</c:v>
                  </c:pt>
                  <c:pt idx="6">
                    <c:v>2.2999999999999998</c:v>
                  </c:pt>
                  <c:pt idx="7">
                    <c:v>2.2999999999999998</c:v>
                  </c:pt>
                  <c:pt idx="8">
                    <c:v>2.4</c:v>
                  </c:pt>
                  <c:pt idx="9">
                    <c:v>2.2999999999999998</c:v>
                  </c:pt>
                  <c:pt idx="10">
                    <c:v>2.2999999999999998</c:v>
                  </c:pt>
                  <c:pt idx="11">
                    <c:v>2</c:v>
                  </c:pt>
                  <c:pt idx="12">
                    <c:v>2.4</c:v>
                  </c:pt>
                  <c:pt idx="13">
                    <c:v>2.4</c:v>
                  </c:pt>
                  <c:pt idx="14">
                    <c:v>2</c:v>
                  </c:pt>
                </c:numCache>
              </c:numRef>
            </c:plus>
            <c:minus>
              <c:numRef>
                <c:f>Fjärdingslöv!$I$2:$I$16</c:f>
                <c:numCache>
                  <c:formatCode>General</c:formatCode>
                  <c:ptCount val="15"/>
                  <c:pt idx="0">
                    <c:v>1.8</c:v>
                  </c:pt>
                  <c:pt idx="1">
                    <c:v>2.2999999999999998</c:v>
                  </c:pt>
                  <c:pt idx="2">
                    <c:v>2.4</c:v>
                  </c:pt>
                  <c:pt idx="3">
                    <c:v>1.9</c:v>
                  </c:pt>
                  <c:pt idx="4">
                    <c:v>2.2999999999999998</c:v>
                  </c:pt>
                  <c:pt idx="5">
                    <c:v>2.2999999999999998</c:v>
                  </c:pt>
                  <c:pt idx="6">
                    <c:v>2.2999999999999998</c:v>
                  </c:pt>
                  <c:pt idx="7">
                    <c:v>2.2999999999999998</c:v>
                  </c:pt>
                  <c:pt idx="8">
                    <c:v>2.4</c:v>
                  </c:pt>
                  <c:pt idx="9">
                    <c:v>2.2999999999999998</c:v>
                  </c:pt>
                  <c:pt idx="10">
                    <c:v>2.2999999999999998</c:v>
                  </c:pt>
                  <c:pt idx="11">
                    <c:v>2</c:v>
                  </c:pt>
                  <c:pt idx="12">
                    <c:v>2.4</c:v>
                  </c:pt>
                  <c:pt idx="13">
                    <c:v>2.4</c:v>
                  </c:pt>
                  <c:pt idx="14">
                    <c:v>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Fjärdingslöv!$C$2:$C$16</c:f>
              <c:numCache>
                <c:formatCode>General</c:formatCode>
                <c:ptCount val="15"/>
                <c:pt idx="0">
                  <c:v>1957</c:v>
                </c:pt>
                <c:pt idx="1">
                  <c:v>1962</c:v>
                </c:pt>
                <c:pt idx="2">
                  <c:v>1966</c:v>
                </c:pt>
                <c:pt idx="3">
                  <c:v>1971</c:v>
                </c:pt>
                <c:pt idx="4">
                  <c:v>1976</c:v>
                </c:pt>
                <c:pt idx="5">
                  <c:v>1980</c:v>
                </c:pt>
                <c:pt idx="6">
                  <c:v>1984</c:v>
                </c:pt>
                <c:pt idx="7">
                  <c:v>1988</c:v>
                </c:pt>
                <c:pt idx="8">
                  <c:v>1991</c:v>
                </c:pt>
                <c:pt idx="9">
                  <c:v>1999</c:v>
                </c:pt>
                <c:pt idx="10">
                  <c:v>2003</c:v>
                </c:pt>
                <c:pt idx="11">
                  <c:v>2007</c:v>
                </c:pt>
                <c:pt idx="12">
                  <c:v>2011</c:v>
                </c:pt>
                <c:pt idx="13">
                  <c:v>2015</c:v>
                </c:pt>
                <c:pt idx="14">
                  <c:v>2019</c:v>
                </c:pt>
              </c:numCache>
            </c:numRef>
          </c:xVal>
          <c:yVal>
            <c:numRef>
              <c:f>Fjärdingslöv!$H$2:$H$16</c:f>
              <c:numCache>
                <c:formatCode>General</c:formatCode>
                <c:ptCount val="15"/>
                <c:pt idx="0">
                  <c:v>-239.3</c:v>
                </c:pt>
                <c:pt idx="1">
                  <c:v>-116.2</c:v>
                </c:pt>
                <c:pt idx="2">
                  <c:v>-137.9</c:v>
                </c:pt>
                <c:pt idx="3">
                  <c:v>-30.7</c:v>
                </c:pt>
                <c:pt idx="4">
                  <c:v>-100.3</c:v>
                </c:pt>
                <c:pt idx="5">
                  <c:v>-124.7</c:v>
                </c:pt>
                <c:pt idx="6">
                  <c:v>-64</c:v>
                </c:pt>
                <c:pt idx="7">
                  <c:v>-110.3</c:v>
                </c:pt>
                <c:pt idx="8">
                  <c:v>-76</c:v>
                </c:pt>
                <c:pt idx="9">
                  <c:v>-23.4</c:v>
                </c:pt>
                <c:pt idx="10">
                  <c:v>-83.5</c:v>
                </c:pt>
                <c:pt idx="11">
                  <c:v>-53.2</c:v>
                </c:pt>
                <c:pt idx="12">
                  <c:v>-83.4</c:v>
                </c:pt>
                <c:pt idx="13">
                  <c:v>-87.6</c:v>
                </c:pt>
                <c:pt idx="14">
                  <c:v>-59.8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596-430F-B22F-7513C13BD8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8381232"/>
        <c:axId val="1878378832"/>
      </c:scatterChart>
      <c:valAx>
        <c:axId val="1878381232"/>
        <c:scaling>
          <c:orientation val="minMax"/>
          <c:max val="202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b="1"/>
                  <a:t>Calendar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78832"/>
        <c:crosses val="autoZero"/>
        <c:crossBetween val="midCat"/>
      </c:valAx>
      <c:valAx>
        <c:axId val="18783788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sz="1100" b="1" i="0" u="none" strike="noStrike" baseline="0">
                    <a:effectLst/>
                  </a:rPr>
                  <a:t>∆14C (‰)</a:t>
                </a:r>
                <a:r>
                  <a:rPr lang="sv-SE" sz="1100" b="0" i="0" u="none" strike="noStrike" baseline="0"/>
                  <a:t> </a:t>
                </a:r>
                <a:endParaRPr lang="sv-SE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812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1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sv-S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ysClr val="windowText" lastClr="000000"/>
                </a:solidFill>
                <a:highlight>
                  <a:srgbClr val="00FF00"/>
                </a:highligh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sv-SE">
                <a:highlight>
                  <a:srgbClr val="00FF00"/>
                </a:highlight>
              </a:rPr>
              <a:t>Orop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ysClr val="windowText" lastClr="000000"/>
              </a:solidFill>
              <a:highlight>
                <a:srgbClr val="00FF00"/>
              </a:highlight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sv-S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Orop!$I$2:$I$16</c:f>
                <c:numCache>
                  <c:formatCode>General</c:formatCode>
                  <c:ptCount val="15"/>
                  <c:pt idx="0">
                    <c:v>1.8</c:v>
                  </c:pt>
                  <c:pt idx="1">
                    <c:v>1.8</c:v>
                  </c:pt>
                  <c:pt idx="2">
                    <c:v>1.9</c:v>
                  </c:pt>
                  <c:pt idx="3">
                    <c:v>2.4</c:v>
                  </c:pt>
                  <c:pt idx="4">
                    <c:v>1.9</c:v>
                  </c:pt>
                  <c:pt idx="5">
                    <c:v>1.9</c:v>
                  </c:pt>
                  <c:pt idx="6">
                    <c:v>2.1</c:v>
                  </c:pt>
                  <c:pt idx="7">
                    <c:v>2</c:v>
                  </c:pt>
                  <c:pt idx="8">
                    <c:v>2.1</c:v>
                  </c:pt>
                  <c:pt idx="9">
                    <c:v>2.1</c:v>
                  </c:pt>
                  <c:pt idx="10">
                    <c:v>2.2000000000000002</c:v>
                  </c:pt>
                  <c:pt idx="11">
                    <c:v>2.1</c:v>
                  </c:pt>
                  <c:pt idx="12">
                    <c:v>2.1</c:v>
                  </c:pt>
                  <c:pt idx="13">
                    <c:v>2</c:v>
                  </c:pt>
                </c:numCache>
              </c:numRef>
            </c:plus>
            <c:minus>
              <c:numRef>
                <c:f>Orop!$I$2:$I$16</c:f>
                <c:numCache>
                  <c:formatCode>General</c:formatCode>
                  <c:ptCount val="15"/>
                  <c:pt idx="0">
                    <c:v>1.8</c:v>
                  </c:pt>
                  <c:pt idx="1">
                    <c:v>1.8</c:v>
                  </c:pt>
                  <c:pt idx="2">
                    <c:v>1.9</c:v>
                  </c:pt>
                  <c:pt idx="3">
                    <c:v>2.4</c:v>
                  </c:pt>
                  <c:pt idx="4">
                    <c:v>1.9</c:v>
                  </c:pt>
                  <c:pt idx="5">
                    <c:v>1.9</c:v>
                  </c:pt>
                  <c:pt idx="6">
                    <c:v>2.1</c:v>
                  </c:pt>
                  <c:pt idx="7">
                    <c:v>2</c:v>
                  </c:pt>
                  <c:pt idx="8">
                    <c:v>2.1</c:v>
                  </c:pt>
                  <c:pt idx="9">
                    <c:v>2.1</c:v>
                  </c:pt>
                  <c:pt idx="10">
                    <c:v>2.2000000000000002</c:v>
                  </c:pt>
                  <c:pt idx="11">
                    <c:v>2.1</c:v>
                  </c:pt>
                  <c:pt idx="12">
                    <c:v>2.1</c:v>
                  </c:pt>
                  <c:pt idx="13">
                    <c:v>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Orop!$C$2:$C$16</c:f>
              <c:numCache>
                <c:formatCode>General</c:formatCode>
                <c:ptCount val="15"/>
                <c:pt idx="0">
                  <c:v>1957</c:v>
                </c:pt>
                <c:pt idx="1">
                  <c:v>1962</c:v>
                </c:pt>
                <c:pt idx="2">
                  <c:v>1966</c:v>
                </c:pt>
                <c:pt idx="3">
                  <c:v>1971</c:v>
                </c:pt>
                <c:pt idx="4">
                  <c:v>1976</c:v>
                </c:pt>
                <c:pt idx="5">
                  <c:v>1980</c:v>
                </c:pt>
                <c:pt idx="6">
                  <c:v>1984</c:v>
                </c:pt>
                <c:pt idx="7">
                  <c:v>1988</c:v>
                </c:pt>
                <c:pt idx="8">
                  <c:v>1991</c:v>
                </c:pt>
                <c:pt idx="9">
                  <c:v>1999</c:v>
                </c:pt>
                <c:pt idx="10">
                  <c:v>2003</c:v>
                </c:pt>
                <c:pt idx="11">
                  <c:v>2007</c:v>
                </c:pt>
                <c:pt idx="12">
                  <c:v>2011</c:v>
                </c:pt>
                <c:pt idx="13">
                  <c:v>2015</c:v>
                </c:pt>
                <c:pt idx="14">
                  <c:v>2019</c:v>
                </c:pt>
              </c:numCache>
            </c:numRef>
          </c:xVal>
          <c:yVal>
            <c:numRef>
              <c:f>Orop!$H$2:$H$16</c:f>
              <c:numCache>
                <c:formatCode>General</c:formatCode>
                <c:ptCount val="15"/>
                <c:pt idx="0">
                  <c:v>-97.4</c:v>
                </c:pt>
                <c:pt idx="1">
                  <c:v>-37.200000000000003</c:v>
                </c:pt>
                <c:pt idx="2">
                  <c:v>-15.3</c:v>
                </c:pt>
                <c:pt idx="3">
                  <c:v>-133.80000000000001</c:v>
                </c:pt>
                <c:pt idx="4">
                  <c:v>-13.6</c:v>
                </c:pt>
                <c:pt idx="5">
                  <c:v>12.8</c:v>
                </c:pt>
                <c:pt idx="6">
                  <c:v>-2.6</c:v>
                </c:pt>
                <c:pt idx="7">
                  <c:v>-3.9</c:v>
                </c:pt>
                <c:pt idx="8">
                  <c:v>2.5</c:v>
                </c:pt>
                <c:pt idx="9">
                  <c:v>-7.8</c:v>
                </c:pt>
                <c:pt idx="10">
                  <c:v>-57.9</c:v>
                </c:pt>
                <c:pt idx="11">
                  <c:v>-14.1</c:v>
                </c:pt>
                <c:pt idx="12">
                  <c:v>-26.9</c:v>
                </c:pt>
                <c:pt idx="13">
                  <c:v>-28.6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2F6-4EC1-9C3E-196FDFBF1F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8381232"/>
        <c:axId val="1878378832"/>
      </c:scatterChart>
      <c:valAx>
        <c:axId val="1878381232"/>
        <c:scaling>
          <c:orientation val="minMax"/>
          <c:max val="202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b="1"/>
                  <a:t>Calendar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78832"/>
        <c:crosses val="autoZero"/>
        <c:crossBetween val="midCat"/>
      </c:valAx>
      <c:valAx>
        <c:axId val="18783788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sz="1100" b="1" i="0" u="none" strike="noStrike" baseline="0">
                    <a:effectLst/>
                  </a:rPr>
                  <a:t>∆14C (‰)</a:t>
                </a:r>
                <a:r>
                  <a:rPr lang="sv-SE" sz="1100" b="0" i="0" u="none" strike="noStrike" baseline="0"/>
                  <a:t> </a:t>
                </a:r>
                <a:endParaRPr lang="sv-SE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812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1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sv-S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ysClr val="windowText" lastClr="000000"/>
                </a:solidFill>
                <a:highlight>
                  <a:srgbClr val="00FF00"/>
                </a:highligh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sv-SE">
                <a:highlight>
                  <a:srgbClr val="00FF00"/>
                </a:highlight>
              </a:rPr>
              <a:t>Örja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ysClr val="windowText" lastClr="000000"/>
              </a:solidFill>
              <a:highlight>
                <a:srgbClr val="00FF00"/>
              </a:highlight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sv-S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Örja!$I$2:$I$16</c:f>
                <c:numCache>
                  <c:formatCode>General</c:formatCode>
                  <c:ptCount val="15"/>
                  <c:pt idx="0">
                    <c:v>2.2000000000000002</c:v>
                  </c:pt>
                  <c:pt idx="1">
                    <c:v>2.2000000000000002</c:v>
                  </c:pt>
                  <c:pt idx="2">
                    <c:v>2.2999999999999998</c:v>
                  </c:pt>
                  <c:pt idx="3">
                    <c:v>2.2999999999999998</c:v>
                  </c:pt>
                  <c:pt idx="4">
                    <c:v>2.4</c:v>
                  </c:pt>
                  <c:pt idx="5">
                    <c:v>2.2999999999999998</c:v>
                  </c:pt>
                  <c:pt idx="6">
                    <c:v>2.2999999999999998</c:v>
                  </c:pt>
                  <c:pt idx="7">
                    <c:v>2.5</c:v>
                  </c:pt>
                  <c:pt idx="8">
                    <c:v>2.1</c:v>
                  </c:pt>
                  <c:pt idx="9">
                    <c:v>2.4</c:v>
                  </c:pt>
                  <c:pt idx="10">
                    <c:v>2.4</c:v>
                  </c:pt>
                  <c:pt idx="11">
                    <c:v>2.2999999999999998</c:v>
                  </c:pt>
                  <c:pt idx="13">
                    <c:v>2.2999999999999998</c:v>
                  </c:pt>
                  <c:pt idx="14">
                    <c:v>2.2999999999999998</c:v>
                  </c:pt>
                </c:numCache>
              </c:numRef>
            </c:plus>
            <c:minus>
              <c:numRef>
                <c:f>Örja!$I$2:$I$16</c:f>
                <c:numCache>
                  <c:formatCode>General</c:formatCode>
                  <c:ptCount val="15"/>
                  <c:pt idx="0">
                    <c:v>2.2000000000000002</c:v>
                  </c:pt>
                  <c:pt idx="1">
                    <c:v>2.2000000000000002</c:v>
                  </c:pt>
                  <c:pt idx="2">
                    <c:v>2.2999999999999998</c:v>
                  </c:pt>
                  <c:pt idx="3">
                    <c:v>2.2999999999999998</c:v>
                  </c:pt>
                  <c:pt idx="4">
                    <c:v>2.4</c:v>
                  </c:pt>
                  <c:pt idx="5">
                    <c:v>2.2999999999999998</c:v>
                  </c:pt>
                  <c:pt idx="6">
                    <c:v>2.2999999999999998</c:v>
                  </c:pt>
                  <c:pt idx="7">
                    <c:v>2.5</c:v>
                  </c:pt>
                  <c:pt idx="8">
                    <c:v>2.1</c:v>
                  </c:pt>
                  <c:pt idx="9">
                    <c:v>2.4</c:v>
                  </c:pt>
                  <c:pt idx="10">
                    <c:v>2.4</c:v>
                  </c:pt>
                  <c:pt idx="11">
                    <c:v>2.2999999999999998</c:v>
                  </c:pt>
                  <c:pt idx="13">
                    <c:v>2.2999999999999998</c:v>
                  </c:pt>
                  <c:pt idx="14">
                    <c:v>2.2999999999999998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Örja!$C$2:$C$16</c:f>
              <c:numCache>
                <c:formatCode>General</c:formatCode>
                <c:ptCount val="15"/>
                <c:pt idx="0">
                  <c:v>1957</c:v>
                </c:pt>
                <c:pt idx="1">
                  <c:v>1962</c:v>
                </c:pt>
                <c:pt idx="2">
                  <c:v>1966</c:v>
                </c:pt>
                <c:pt idx="3">
                  <c:v>1971</c:v>
                </c:pt>
                <c:pt idx="4">
                  <c:v>1976</c:v>
                </c:pt>
                <c:pt idx="5">
                  <c:v>1980</c:v>
                </c:pt>
                <c:pt idx="6">
                  <c:v>1984</c:v>
                </c:pt>
                <c:pt idx="7">
                  <c:v>1988</c:v>
                </c:pt>
                <c:pt idx="8">
                  <c:v>1991</c:v>
                </c:pt>
                <c:pt idx="9">
                  <c:v>1999</c:v>
                </c:pt>
                <c:pt idx="10">
                  <c:v>2003</c:v>
                </c:pt>
                <c:pt idx="11">
                  <c:v>2007</c:v>
                </c:pt>
                <c:pt idx="12">
                  <c:v>2010</c:v>
                </c:pt>
                <c:pt idx="13">
                  <c:v>2015</c:v>
                </c:pt>
                <c:pt idx="14">
                  <c:v>2019</c:v>
                </c:pt>
              </c:numCache>
            </c:numRef>
          </c:xVal>
          <c:yVal>
            <c:numRef>
              <c:f>Örja!$H$2:$H$16</c:f>
              <c:numCache>
                <c:formatCode>General</c:formatCode>
                <c:ptCount val="15"/>
                <c:pt idx="0">
                  <c:v>-267.2</c:v>
                </c:pt>
                <c:pt idx="1">
                  <c:v>-215.1</c:v>
                </c:pt>
                <c:pt idx="2">
                  <c:v>-79.099999999999994</c:v>
                </c:pt>
                <c:pt idx="3">
                  <c:v>-112.7</c:v>
                </c:pt>
                <c:pt idx="4">
                  <c:v>-68.599999999999994</c:v>
                </c:pt>
                <c:pt idx="5">
                  <c:v>-87.9</c:v>
                </c:pt>
                <c:pt idx="6">
                  <c:v>-108</c:v>
                </c:pt>
                <c:pt idx="7">
                  <c:v>-75.099999999999994</c:v>
                </c:pt>
                <c:pt idx="8">
                  <c:v>-43.6</c:v>
                </c:pt>
                <c:pt idx="9">
                  <c:v>-115.1</c:v>
                </c:pt>
                <c:pt idx="10">
                  <c:v>-85.5</c:v>
                </c:pt>
                <c:pt idx="11">
                  <c:v>-109.1</c:v>
                </c:pt>
                <c:pt idx="13">
                  <c:v>-138.30000000000001</c:v>
                </c:pt>
                <c:pt idx="14">
                  <c:v>-156.9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078-4D66-A01C-F6349B00BC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8381232"/>
        <c:axId val="1878378832"/>
      </c:scatterChart>
      <c:valAx>
        <c:axId val="1878381232"/>
        <c:scaling>
          <c:orientation val="minMax"/>
          <c:max val="202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b="1"/>
                  <a:t>Calendar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78832"/>
        <c:crosses val="autoZero"/>
        <c:crossBetween val="midCat"/>
      </c:valAx>
      <c:valAx>
        <c:axId val="18783788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sz="1100" b="1" i="0" u="none" strike="noStrike" baseline="0">
                    <a:effectLst/>
                  </a:rPr>
                  <a:t>∆14C (‰)</a:t>
                </a:r>
                <a:r>
                  <a:rPr lang="sv-SE" sz="1100" b="0" i="0" u="none" strike="noStrike" baseline="0"/>
                  <a:t> </a:t>
                </a:r>
                <a:endParaRPr lang="sv-SE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812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1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sv-S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ysClr val="windowText" lastClr="000000"/>
                </a:solidFill>
                <a:highlight>
                  <a:srgbClr val="00FF00"/>
                </a:highligh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sv-SE">
                <a:highlight>
                  <a:srgbClr val="00FF00"/>
                </a:highlight>
              </a:rPr>
              <a:t>Ekebo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ysClr val="windowText" lastClr="000000"/>
              </a:solidFill>
              <a:highlight>
                <a:srgbClr val="00FF00"/>
              </a:highlight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sv-S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Ekebo!$I$2:$I$16</c:f>
                <c:numCache>
                  <c:formatCode>General</c:formatCode>
                  <c:ptCount val="15"/>
                  <c:pt idx="0">
                    <c:v>1.8</c:v>
                  </c:pt>
                  <c:pt idx="1">
                    <c:v>1.8</c:v>
                  </c:pt>
                  <c:pt idx="2">
                    <c:v>1.7</c:v>
                  </c:pt>
                  <c:pt idx="3">
                    <c:v>1.8</c:v>
                  </c:pt>
                  <c:pt idx="4">
                    <c:v>1.9</c:v>
                  </c:pt>
                  <c:pt idx="5">
                    <c:v>1.8</c:v>
                  </c:pt>
                  <c:pt idx="6">
                    <c:v>1.8</c:v>
                  </c:pt>
                  <c:pt idx="7">
                    <c:v>2</c:v>
                  </c:pt>
                  <c:pt idx="8">
                    <c:v>2</c:v>
                  </c:pt>
                  <c:pt idx="9">
                    <c:v>1.9</c:v>
                  </c:pt>
                  <c:pt idx="10">
                    <c:v>1.8</c:v>
                  </c:pt>
                  <c:pt idx="11">
                    <c:v>2</c:v>
                  </c:pt>
                  <c:pt idx="12">
                    <c:v>1.8</c:v>
                  </c:pt>
                  <c:pt idx="13">
                    <c:v>2</c:v>
                  </c:pt>
                  <c:pt idx="14">
                    <c:v>1.9</c:v>
                  </c:pt>
                </c:numCache>
              </c:numRef>
            </c:plus>
            <c:minus>
              <c:numRef>
                <c:f>Ekebo!$I$2:$I$16</c:f>
                <c:numCache>
                  <c:formatCode>General</c:formatCode>
                  <c:ptCount val="15"/>
                  <c:pt idx="0">
                    <c:v>1.8</c:v>
                  </c:pt>
                  <c:pt idx="1">
                    <c:v>1.8</c:v>
                  </c:pt>
                  <c:pt idx="2">
                    <c:v>1.7</c:v>
                  </c:pt>
                  <c:pt idx="3">
                    <c:v>1.8</c:v>
                  </c:pt>
                  <c:pt idx="4">
                    <c:v>1.9</c:v>
                  </c:pt>
                  <c:pt idx="5">
                    <c:v>1.8</c:v>
                  </c:pt>
                  <c:pt idx="6">
                    <c:v>1.8</c:v>
                  </c:pt>
                  <c:pt idx="7">
                    <c:v>2</c:v>
                  </c:pt>
                  <c:pt idx="8">
                    <c:v>2</c:v>
                  </c:pt>
                  <c:pt idx="9">
                    <c:v>1.9</c:v>
                  </c:pt>
                  <c:pt idx="10">
                    <c:v>1.8</c:v>
                  </c:pt>
                  <c:pt idx="11">
                    <c:v>2</c:v>
                  </c:pt>
                  <c:pt idx="12">
                    <c:v>1.8</c:v>
                  </c:pt>
                  <c:pt idx="13">
                    <c:v>2</c:v>
                  </c:pt>
                  <c:pt idx="14">
                    <c:v>1.9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Ekebo!$C$2:$C$16</c:f>
              <c:numCache>
                <c:formatCode>General</c:formatCode>
                <c:ptCount val="15"/>
                <c:pt idx="0">
                  <c:v>1957</c:v>
                </c:pt>
                <c:pt idx="1">
                  <c:v>1962</c:v>
                </c:pt>
                <c:pt idx="2">
                  <c:v>1966</c:v>
                </c:pt>
                <c:pt idx="3">
                  <c:v>1971</c:v>
                </c:pt>
                <c:pt idx="4">
                  <c:v>1976</c:v>
                </c:pt>
                <c:pt idx="5">
                  <c:v>1980</c:v>
                </c:pt>
                <c:pt idx="6">
                  <c:v>1984</c:v>
                </c:pt>
                <c:pt idx="7">
                  <c:v>1988</c:v>
                </c:pt>
                <c:pt idx="8">
                  <c:v>1991</c:v>
                </c:pt>
                <c:pt idx="9">
                  <c:v>1999</c:v>
                </c:pt>
                <c:pt idx="10">
                  <c:v>2003</c:v>
                </c:pt>
                <c:pt idx="11">
                  <c:v>2007</c:v>
                </c:pt>
                <c:pt idx="12">
                  <c:v>2011</c:v>
                </c:pt>
                <c:pt idx="13">
                  <c:v>2015</c:v>
                </c:pt>
                <c:pt idx="14">
                  <c:v>2019</c:v>
                </c:pt>
              </c:numCache>
            </c:numRef>
          </c:xVal>
          <c:yVal>
            <c:numRef>
              <c:f>Ekebo!$H$2:$H$16</c:f>
              <c:numCache>
                <c:formatCode>General</c:formatCode>
                <c:ptCount val="15"/>
                <c:pt idx="0">
                  <c:v>-133.5</c:v>
                </c:pt>
                <c:pt idx="1">
                  <c:v>-131</c:v>
                </c:pt>
                <c:pt idx="2">
                  <c:v>-98.8</c:v>
                </c:pt>
                <c:pt idx="3">
                  <c:v>-65</c:v>
                </c:pt>
                <c:pt idx="4">
                  <c:v>-70.8</c:v>
                </c:pt>
                <c:pt idx="5">
                  <c:v>-50.6</c:v>
                </c:pt>
                <c:pt idx="6">
                  <c:v>-62.6</c:v>
                </c:pt>
                <c:pt idx="7">
                  <c:v>-77.7</c:v>
                </c:pt>
                <c:pt idx="8">
                  <c:v>-60.1</c:v>
                </c:pt>
                <c:pt idx="9">
                  <c:v>-85</c:v>
                </c:pt>
                <c:pt idx="10">
                  <c:v>-67.400000000000006</c:v>
                </c:pt>
                <c:pt idx="11">
                  <c:v>-76.2</c:v>
                </c:pt>
                <c:pt idx="12">
                  <c:v>-88.6</c:v>
                </c:pt>
                <c:pt idx="13">
                  <c:v>-89.5</c:v>
                </c:pt>
                <c:pt idx="14">
                  <c:v>-125.2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D73-44E0-958F-36C536CACA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8381232"/>
        <c:axId val="1878378832"/>
      </c:scatterChart>
      <c:valAx>
        <c:axId val="1878381232"/>
        <c:scaling>
          <c:orientation val="minMax"/>
          <c:max val="202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b="1"/>
                  <a:t>Calendar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78832"/>
        <c:crosses val="autoZero"/>
        <c:crossBetween val="midCat"/>
      </c:valAx>
      <c:valAx>
        <c:axId val="18783788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sz="1100" b="1" i="0" u="none" strike="noStrike" baseline="0">
                    <a:effectLst/>
                  </a:rPr>
                  <a:t>∆14C (‰)</a:t>
                </a:r>
                <a:r>
                  <a:rPr lang="sv-SE" sz="1100" b="0" i="0" u="none" strike="noStrike" baseline="0"/>
                  <a:t> </a:t>
                </a:r>
                <a:endParaRPr lang="sv-SE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812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1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sv-S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ysClr val="windowText" lastClr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sv-SE">
                <a:highlight>
                  <a:srgbClr val="FFFF00"/>
                </a:highlight>
              </a:rPr>
              <a:t>Kungsängen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ysClr val="windowText" lastClr="000000"/>
              </a:solidFill>
              <a:highlight>
                <a:srgbClr val="FFFF00"/>
              </a:highlight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sv-S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Kungsängen!$I$2:$I$11</c:f>
                <c:numCache>
                  <c:formatCode>General</c:formatCode>
                  <c:ptCount val="10"/>
                  <c:pt idx="1">
                    <c:v>1.8</c:v>
                  </c:pt>
                  <c:pt idx="2">
                    <c:v>1.7</c:v>
                  </c:pt>
                  <c:pt idx="3">
                    <c:v>1.2</c:v>
                  </c:pt>
                  <c:pt idx="4">
                    <c:v>1.9</c:v>
                  </c:pt>
                  <c:pt idx="5">
                    <c:v>1.7</c:v>
                  </c:pt>
                  <c:pt idx="6">
                    <c:v>2</c:v>
                  </c:pt>
                  <c:pt idx="7">
                    <c:v>1.8</c:v>
                  </c:pt>
                  <c:pt idx="8">
                    <c:v>1.9</c:v>
                  </c:pt>
                  <c:pt idx="9">
                    <c:v>2</c:v>
                  </c:pt>
                </c:numCache>
              </c:numRef>
            </c:plus>
            <c:minus>
              <c:numRef>
                <c:f>Kungsängen!$I$2:$I$11</c:f>
                <c:numCache>
                  <c:formatCode>General</c:formatCode>
                  <c:ptCount val="10"/>
                  <c:pt idx="1">
                    <c:v>1.8</c:v>
                  </c:pt>
                  <c:pt idx="2">
                    <c:v>1.7</c:v>
                  </c:pt>
                  <c:pt idx="3">
                    <c:v>1.2</c:v>
                  </c:pt>
                  <c:pt idx="4">
                    <c:v>1.9</c:v>
                  </c:pt>
                  <c:pt idx="5">
                    <c:v>1.7</c:v>
                  </c:pt>
                  <c:pt idx="6">
                    <c:v>2</c:v>
                  </c:pt>
                  <c:pt idx="7">
                    <c:v>1.8</c:v>
                  </c:pt>
                  <c:pt idx="8">
                    <c:v>1.9</c:v>
                  </c:pt>
                  <c:pt idx="9">
                    <c:v>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Kungsängen!$C$2:$C$11</c:f>
              <c:numCache>
                <c:formatCode>General</c:formatCode>
                <c:ptCount val="10"/>
                <c:pt idx="0">
                  <c:v>1966</c:v>
                </c:pt>
                <c:pt idx="1">
                  <c:v>1971</c:v>
                </c:pt>
                <c:pt idx="2">
                  <c:v>1976</c:v>
                </c:pt>
                <c:pt idx="3">
                  <c:v>1980</c:v>
                </c:pt>
                <c:pt idx="4">
                  <c:v>1984</c:v>
                </c:pt>
                <c:pt idx="5">
                  <c:v>1988</c:v>
                </c:pt>
                <c:pt idx="6">
                  <c:v>1993</c:v>
                </c:pt>
                <c:pt idx="7">
                  <c:v>1999</c:v>
                </c:pt>
                <c:pt idx="8">
                  <c:v>2005</c:v>
                </c:pt>
                <c:pt idx="9">
                  <c:v>2011</c:v>
                </c:pt>
              </c:numCache>
            </c:numRef>
          </c:xVal>
          <c:yVal>
            <c:numRef>
              <c:f>Kungsängen!$H$2:$H$11</c:f>
              <c:numCache>
                <c:formatCode>General</c:formatCode>
                <c:ptCount val="10"/>
                <c:pt idx="1">
                  <c:v>-190.1</c:v>
                </c:pt>
                <c:pt idx="2">
                  <c:v>-128.4</c:v>
                </c:pt>
                <c:pt idx="3">
                  <c:v>-665.2</c:v>
                </c:pt>
                <c:pt idx="4">
                  <c:v>-119.1</c:v>
                </c:pt>
                <c:pt idx="5">
                  <c:v>-140.5</c:v>
                </c:pt>
                <c:pt idx="6">
                  <c:v>-46.7</c:v>
                </c:pt>
                <c:pt idx="7">
                  <c:v>-107</c:v>
                </c:pt>
                <c:pt idx="8">
                  <c:v>-93.2</c:v>
                </c:pt>
                <c:pt idx="9">
                  <c:v>-115.8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214-4EBB-A199-45FE8F8B21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8381232"/>
        <c:axId val="1878378832"/>
      </c:scatterChart>
      <c:valAx>
        <c:axId val="1878381232"/>
        <c:scaling>
          <c:orientation val="minMax"/>
          <c:max val="202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b="1"/>
                  <a:t>Calendar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78832"/>
        <c:crosses val="autoZero"/>
        <c:crossBetween val="midCat"/>
      </c:valAx>
      <c:valAx>
        <c:axId val="18783788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sz="1100" b="1" i="0" u="none" strike="noStrike" baseline="0">
                    <a:effectLst/>
                  </a:rPr>
                  <a:t>∆14C (‰)</a:t>
                </a:r>
                <a:r>
                  <a:rPr lang="sv-SE" sz="1100" b="0" i="0" u="none" strike="noStrike" baseline="0"/>
                  <a:t> </a:t>
                </a:r>
                <a:endParaRPr lang="sv-SE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812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1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sv-S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sv-SE"/>
              <a:t>Fors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sv-S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Fors!$I$2:$I$11</c:f>
                <c:numCache>
                  <c:formatCode>General</c:formatCode>
                  <c:ptCount val="10"/>
                  <c:pt idx="0">
                    <c:v>2</c:v>
                  </c:pt>
                  <c:pt idx="1">
                    <c:v>2.2000000000000002</c:v>
                  </c:pt>
                  <c:pt idx="2">
                    <c:v>2</c:v>
                  </c:pt>
                  <c:pt idx="3">
                    <c:v>2.4</c:v>
                  </c:pt>
                  <c:pt idx="4">
                    <c:v>1.9</c:v>
                  </c:pt>
                  <c:pt idx="5">
                    <c:v>2</c:v>
                  </c:pt>
                  <c:pt idx="6">
                    <c:v>1.6</c:v>
                  </c:pt>
                  <c:pt idx="7">
                    <c:v>2</c:v>
                  </c:pt>
                  <c:pt idx="8">
                    <c:v>2.6</c:v>
                  </c:pt>
                </c:numCache>
              </c:numRef>
            </c:plus>
            <c:minus>
              <c:numRef>
                <c:f>Fors!$I$2:$I$11</c:f>
                <c:numCache>
                  <c:formatCode>General</c:formatCode>
                  <c:ptCount val="10"/>
                  <c:pt idx="0">
                    <c:v>2</c:v>
                  </c:pt>
                  <c:pt idx="1">
                    <c:v>2.2000000000000002</c:v>
                  </c:pt>
                  <c:pt idx="2">
                    <c:v>2</c:v>
                  </c:pt>
                  <c:pt idx="3">
                    <c:v>2.4</c:v>
                  </c:pt>
                  <c:pt idx="4">
                    <c:v>1.9</c:v>
                  </c:pt>
                  <c:pt idx="5">
                    <c:v>2</c:v>
                  </c:pt>
                  <c:pt idx="6">
                    <c:v>1.6</c:v>
                  </c:pt>
                  <c:pt idx="7">
                    <c:v>2</c:v>
                  </c:pt>
                  <c:pt idx="8">
                    <c:v>2.6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Fors!$C$2:$C$12</c:f>
              <c:numCache>
                <c:formatCode>General</c:formatCode>
                <c:ptCount val="11"/>
                <c:pt idx="0">
                  <c:v>1966</c:v>
                </c:pt>
                <c:pt idx="1">
                  <c:v>1971</c:v>
                </c:pt>
                <c:pt idx="2">
                  <c:v>1976</c:v>
                </c:pt>
                <c:pt idx="3">
                  <c:v>1980</c:v>
                </c:pt>
                <c:pt idx="4">
                  <c:v>1984</c:v>
                </c:pt>
                <c:pt idx="5">
                  <c:v>1988</c:v>
                </c:pt>
                <c:pt idx="6">
                  <c:v>1993</c:v>
                </c:pt>
                <c:pt idx="7">
                  <c:v>1999</c:v>
                </c:pt>
                <c:pt idx="8">
                  <c:v>2005</c:v>
                </c:pt>
                <c:pt idx="9">
                  <c:v>2007</c:v>
                </c:pt>
                <c:pt idx="10">
                  <c:v>2011</c:v>
                </c:pt>
              </c:numCache>
            </c:numRef>
          </c:xVal>
          <c:yVal>
            <c:numRef>
              <c:f>Fors!$H$2:$H$12</c:f>
              <c:numCache>
                <c:formatCode>General</c:formatCode>
                <c:ptCount val="11"/>
                <c:pt idx="0">
                  <c:v>-49.1</c:v>
                </c:pt>
                <c:pt idx="1">
                  <c:v>-43.5</c:v>
                </c:pt>
                <c:pt idx="2">
                  <c:v>-11.3</c:v>
                </c:pt>
                <c:pt idx="3">
                  <c:v>-40.1</c:v>
                </c:pt>
                <c:pt idx="4">
                  <c:v>-47.8</c:v>
                </c:pt>
                <c:pt idx="5">
                  <c:v>-64.900000000000006</c:v>
                </c:pt>
                <c:pt idx="6">
                  <c:v>-299.39999999999998</c:v>
                </c:pt>
                <c:pt idx="7">
                  <c:v>-78.099999999999994</c:v>
                </c:pt>
                <c:pt idx="8">
                  <c:v>-67.3</c:v>
                </c:pt>
                <c:pt idx="10">
                  <c:v>-74.7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D8A-44C6-9B60-2A71AFD700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8381232"/>
        <c:axId val="1878378832"/>
      </c:scatterChart>
      <c:valAx>
        <c:axId val="1878381232"/>
        <c:scaling>
          <c:orientation val="minMax"/>
          <c:max val="201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b="1"/>
                  <a:t>Calendar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78832"/>
        <c:crosses val="autoZero"/>
        <c:crossBetween val="midCat"/>
      </c:valAx>
      <c:valAx>
        <c:axId val="18783788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sz="1100" b="1" i="0" u="none" strike="noStrike" baseline="0">
                    <a:effectLst/>
                  </a:rPr>
                  <a:t>∆14C (‰)</a:t>
                </a:r>
                <a:r>
                  <a:rPr lang="sv-SE" sz="1100" b="0" i="0" u="none" strike="noStrike" baseline="0"/>
                  <a:t> </a:t>
                </a:r>
                <a:endParaRPr lang="sv-SE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812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1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sv-S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ysClr val="windowText" lastClr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sv-SE">
                <a:highlight>
                  <a:srgbClr val="FFFF00"/>
                </a:highlight>
              </a:rPr>
              <a:t>Högåsa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ysClr val="windowText" lastClr="000000"/>
              </a:solidFill>
              <a:highlight>
                <a:srgbClr val="FFFF00"/>
              </a:highlight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sv-S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Högåsa!$I$2:$I$13</c:f>
                <c:numCache>
                  <c:formatCode>General</c:formatCode>
                  <c:ptCount val="12"/>
                  <c:pt idx="0">
                    <c:v>1.9</c:v>
                  </c:pt>
                  <c:pt idx="1">
                    <c:v>1.8</c:v>
                  </c:pt>
                  <c:pt idx="2">
                    <c:v>2.1</c:v>
                  </c:pt>
                  <c:pt idx="3">
                    <c:v>2</c:v>
                  </c:pt>
                  <c:pt idx="4">
                    <c:v>2.2000000000000002</c:v>
                  </c:pt>
                  <c:pt idx="5">
                    <c:v>2.2999999999999998</c:v>
                  </c:pt>
                  <c:pt idx="6">
                    <c:v>2.1</c:v>
                  </c:pt>
                  <c:pt idx="7">
                    <c:v>2.1</c:v>
                  </c:pt>
                  <c:pt idx="8">
                    <c:v>2.1</c:v>
                  </c:pt>
                  <c:pt idx="9">
                    <c:v>2.1</c:v>
                  </c:pt>
                  <c:pt idx="10">
                    <c:v>2.2000000000000002</c:v>
                  </c:pt>
                </c:numCache>
              </c:numRef>
            </c:plus>
            <c:minus>
              <c:numRef>
                <c:f>Högåsa!$I$2:$I$13</c:f>
                <c:numCache>
                  <c:formatCode>General</c:formatCode>
                  <c:ptCount val="12"/>
                  <c:pt idx="0">
                    <c:v>1.9</c:v>
                  </c:pt>
                  <c:pt idx="1">
                    <c:v>1.8</c:v>
                  </c:pt>
                  <c:pt idx="2">
                    <c:v>2.1</c:v>
                  </c:pt>
                  <c:pt idx="3">
                    <c:v>2</c:v>
                  </c:pt>
                  <c:pt idx="4">
                    <c:v>2.2000000000000002</c:v>
                  </c:pt>
                  <c:pt idx="5">
                    <c:v>2.2999999999999998</c:v>
                  </c:pt>
                  <c:pt idx="6">
                    <c:v>2.1</c:v>
                  </c:pt>
                  <c:pt idx="7">
                    <c:v>2.1</c:v>
                  </c:pt>
                  <c:pt idx="8">
                    <c:v>2.1</c:v>
                  </c:pt>
                  <c:pt idx="9">
                    <c:v>2.1</c:v>
                  </c:pt>
                  <c:pt idx="10">
                    <c:v>2.2000000000000002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Högåsa!$C$2:$C$13</c:f>
              <c:numCache>
                <c:formatCode>General</c:formatCode>
                <c:ptCount val="12"/>
                <c:pt idx="0">
                  <c:v>1966</c:v>
                </c:pt>
                <c:pt idx="1">
                  <c:v>1969</c:v>
                </c:pt>
                <c:pt idx="2">
                  <c:v>1975</c:v>
                </c:pt>
                <c:pt idx="3">
                  <c:v>1979</c:v>
                </c:pt>
                <c:pt idx="4">
                  <c:v>1984</c:v>
                </c:pt>
                <c:pt idx="5">
                  <c:v>1988</c:v>
                </c:pt>
                <c:pt idx="6">
                  <c:v>1992</c:v>
                </c:pt>
                <c:pt idx="7">
                  <c:v>1995</c:v>
                </c:pt>
                <c:pt idx="8">
                  <c:v>2001</c:v>
                </c:pt>
                <c:pt idx="9">
                  <c:v>2007</c:v>
                </c:pt>
                <c:pt idx="10">
                  <c:v>2013</c:v>
                </c:pt>
                <c:pt idx="11">
                  <c:v>2019</c:v>
                </c:pt>
              </c:numCache>
            </c:numRef>
          </c:xVal>
          <c:yVal>
            <c:numRef>
              <c:f>Högåsa!$H$2:$H$13</c:f>
              <c:numCache>
                <c:formatCode>General</c:formatCode>
                <c:ptCount val="12"/>
                <c:pt idx="0">
                  <c:v>9.1</c:v>
                </c:pt>
                <c:pt idx="1">
                  <c:v>-40.9</c:v>
                </c:pt>
                <c:pt idx="2">
                  <c:v>17.600000000000001</c:v>
                </c:pt>
                <c:pt idx="3">
                  <c:v>10.3</c:v>
                </c:pt>
                <c:pt idx="4">
                  <c:v>2.4</c:v>
                </c:pt>
                <c:pt idx="5">
                  <c:v>8.6999999999999993</c:v>
                </c:pt>
                <c:pt idx="6">
                  <c:v>5.3</c:v>
                </c:pt>
                <c:pt idx="7">
                  <c:v>2.6</c:v>
                </c:pt>
                <c:pt idx="8">
                  <c:v>4.3</c:v>
                </c:pt>
                <c:pt idx="9">
                  <c:v>-9.1999999999999993</c:v>
                </c:pt>
                <c:pt idx="10">
                  <c:v>-7.9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BF4-43DA-AF5B-6905C90275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8381232"/>
        <c:axId val="1878378832"/>
      </c:scatterChart>
      <c:valAx>
        <c:axId val="1878381232"/>
        <c:scaling>
          <c:orientation val="minMax"/>
          <c:max val="202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b="1"/>
                  <a:t>Calendar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78832"/>
        <c:crosses val="autoZero"/>
        <c:crossBetween val="midCat"/>
      </c:valAx>
      <c:valAx>
        <c:axId val="18783788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sz="1100" b="1" i="0" u="none" strike="noStrike" baseline="0">
                    <a:effectLst/>
                  </a:rPr>
                  <a:t>∆14C (‰)</a:t>
                </a:r>
                <a:r>
                  <a:rPr lang="sv-SE" sz="1100" b="0" i="0" u="none" strike="noStrike" baseline="0"/>
                  <a:t> </a:t>
                </a:r>
                <a:endParaRPr lang="sv-SE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812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1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sv-SE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ysClr val="windowText" lastClr="000000"/>
                </a:solidFill>
                <a:highlight>
                  <a:srgbClr val="FFFF00"/>
                </a:highligh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sv-SE" sz="1320" b="0" i="0" u="none" strike="noStrike" baseline="0">
                <a:effectLst/>
                <a:highlight>
                  <a:srgbClr val="FFFF00"/>
                </a:highlight>
              </a:rPr>
              <a:t>Vretakloster</a:t>
            </a:r>
            <a:r>
              <a:rPr lang="sv-SE" sz="1320" b="0" i="0" u="none" strike="noStrike" baseline="0">
                <a:highlight>
                  <a:srgbClr val="FFFF00"/>
                </a:highlight>
              </a:rPr>
              <a:t> </a:t>
            </a:r>
            <a:endParaRPr lang="sv-SE">
              <a:highlight>
                <a:srgbClr val="FFFF00"/>
              </a:highligh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ysClr val="windowText" lastClr="000000"/>
              </a:solidFill>
              <a:highlight>
                <a:srgbClr val="FFFF00"/>
              </a:highlight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sv-S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Vretakloster!$I$2:$I$13</c:f>
                <c:numCache>
                  <c:formatCode>General</c:formatCode>
                  <c:ptCount val="12"/>
                  <c:pt idx="0">
                    <c:v>1.8</c:v>
                  </c:pt>
                  <c:pt idx="1">
                    <c:v>1.9</c:v>
                  </c:pt>
                  <c:pt idx="2">
                    <c:v>2</c:v>
                  </c:pt>
                  <c:pt idx="3">
                    <c:v>2</c:v>
                  </c:pt>
                  <c:pt idx="4">
                    <c:v>1.9</c:v>
                  </c:pt>
                  <c:pt idx="5">
                    <c:v>1.8</c:v>
                  </c:pt>
                  <c:pt idx="6">
                    <c:v>2</c:v>
                  </c:pt>
                  <c:pt idx="7">
                    <c:v>2.1</c:v>
                  </c:pt>
                  <c:pt idx="8">
                    <c:v>1.9</c:v>
                  </c:pt>
                  <c:pt idx="9">
                    <c:v>2.1</c:v>
                  </c:pt>
                  <c:pt idx="10">
                    <c:v>1.9</c:v>
                  </c:pt>
                  <c:pt idx="11">
                    <c:v>1.9</c:v>
                  </c:pt>
                </c:numCache>
              </c:numRef>
            </c:plus>
            <c:minus>
              <c:numRef>
                <c:f>Vretakloster!$I$2:$I$13</c:f>
                <c:numCache>
                  <c:formatCode>General</c:formatCode>
                  <c:ptCount val="12"/>
                  <c:pt idx="0">
                    <c:v>1.8</c:v>
                  </c:pt>
                  <c:pt idx="1">
                    <c:v>1.9</c:v>
                  </c:pt>
                  <c:pt idx="2">
                    <c:v>2</c:v>
                  </c:pt>
                  <c:pt idx="3">
                    <c:v>2</c:v>
                  </c:pt>
                  <c:pt idx="4">
                    <c:v>1.9</c:v>
                  </c:pt>
                  <c:pt idx="5">
                    <c:v>1.8</c:v>
                  </c:pt>
                  <c:pt idx="6">
                    <c:v>2</c:v>
                  </c:pt>
                  <c:pt idx="7">
                    <c:v>2.1</c:v>
                  </c:pt>
                  <c:pt idx="8">
                    <c:v>1.9</c:v>
                  </c:pt>
                  <c:pt idx="9">
                    <c:v>2.1</c:v>
                  </c:pt>
                  <c:pt idx="10">
                    <c:v>1.9</c:v>
                  </c:pt>
                  <c:pt idx="11">
                    <c:v>1.9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Vretakloster!$C$2:$C$13</c:f>
              <c:numCache>
                <c:formatCode>General</c:formatCode>
                <c:ptCount val="12"/>
                <c:pt idx="0">
                  <c:v>1966</c:v>
                </c:pt>
                <c:pt idx="1">
                  <c:v>1969</c:v>
                </c:pt>
                <c:pt idx="2">
                  <c:v>1975</c:v>
                </c:pt>
                <c:pt idx="3">
                  <c:v>1979</c:v>
                </c:pt>
                <c:pt idx="4">
                  <c:v>1984</c:v>
                </c:pt>
                <c:pt idx="5">
                  <c:v>1988</c:v>
                </c:pt>
                <c:pt idx="6">
                  <c:v>1992</c:v>
                </c:pt>
                <c:pt idx="7">
                  <c:v>1995</c:v>
                </c:pt>
                <c:pt idx="8">
                  <c:v>2001</c:v>
                </c:pt>
                <c:pt idx="9">
                  <c:v>2007</c:v>
                </c:pt>
                <c:pt idx="10">
                  <c:v>2013</c:v>
                </c:pt>
                <c:pt idx="11">
                  <c:v>2019</c:v>
                </c:pt>
              </c:numCache>
            </c:numRef>
          </c:xVal>
          <c:yVal>
            <c:numRef>
              <c:f>Vretakloster!$H$2:$H$13</c:f>
              <c:numCache>
                <c:formatCode>General</c:formatCode>
                <c:ptCount val="12"/>
                <c:pt idx="0">
                  <c:v>-41.5</c:v>
                </c:pt>
                <c:pt idx="1">
                  <c:v>-117</c:v>
                </c:pt>
                <c:pt idx="2">
                  <c:v>-35.4</c:v>
                </c:pt>
                <c:pt idx="3">
                  <c:v>-38.200000000000003</c:v>
                </c:pt>
                <c:pt idx="4">
                  <c:v>-18.100000000000001</c:v>
                </c:pt>
                <c:pt idx="5">
                  <c:v>-268.2</c:v>
                </c:pt>
                <c:pt idx="6">
                  <c:v>-35.799999999999997</c:v>
                </c:pt>
                <c:pt idx="7">
                  <c:v>-28.3</c:v>
                </c:pt>
                <c:pt idx="8">
                  <c:v>-119.9</c:v>
                </c:pt>
                <c:pt idx="9">
                  <c:v>-46.4</c:v>
                </c:pt>
                <c:pt idx="10">
                  <c:v>-57.4</c:v>
                </c:pt>
                <c:pt idx="11">
                  <c:v>-69.3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2EF-4025-B4BB-23600EA14F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8381232"/>
        <c:axId val="1878378832"/>
      </c:scatterChart>
      <c:valAx>
        <c:axId val="1878381232"/>
        <c:scaling>
          <c:orientation val="minMax"/>
          <c:max val="202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b="1"/>
                  <a:t>Calendar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78832"/>
        <c:crosses val="autoZero"/>
        <c:crossBetween val="midCat"/>
      </c:valAx>
      <c:valAx>
        <c:axId val="18783788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sz="1100" b="1" i="0" u="none" strike="noStrike" baseline="0">
                    <a:effectLst/>
                  </a:rPr>
                  <a:t>∆14C (‰)</a:t>
                </a:r>
                <a:r>
                  <a:rPr lang="sv-SE" sz="1100" b="0" i="0" u="none" strike="noStrike" baseline="0"/>
                  <a:t> </a:t>
                </a:r>
                <a:endParaRPr lang="sv-SE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812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1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sv-SE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0" i="0" u="none" strike="noStrike" kern="1200" spc="0" baseline="0">
                <a:solidFill>
                  <a:sysClr val="windowText" lastClr="000000"/>
                </a:solidFill>
                <a:highlight>
                  <a:srgbClr val="00FF00"/>
                </a:highligh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sv-SE" sz="1320" b="0" i="0" u="none" strike="noStrike" baseline="0">
                <a:effectLst/>
                <a:highlight>
                  <a:srgbClr val="00FF00"/>
                </a:highlight>
              </a:rPr>
              <a:t>Bjertorp</a:t>
            </a:r>
            <a:r>
              <a:rPr lang="sv-SE" sz="1320" b="0" i="0" u="none" strike="noStrike" baseline="0">
                <a:highlight>
                  <a:srgbClr val="00FF00"/>
                </a:highlight>
              </a:rPr>
              <a:t> </a:t>
            </a:r>
            <a:endParaRPr lang="sv-SE">
              <a:highlight>
                <a:srgbClr val="00FF00"/>
              </a:highligh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0" i="0" u="none" strike="noStrike" kern="1200" spc="0" baseline="0">
              <a:solidFill>
                <a:sysClr val="windowText" lastClr="000000"/>
              </a:solidFill>
              <a:highlight>
                <a:srgbClr val="00FF00"/>
              </a:highlight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sv-S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Bjertorp!$I$2:$I$13</c:f>
                <c:numCache>
                  <c:formatCode>General</c:formatCode>
                  <c:ptCount val="12"/>
                  <c:pt idx="0">
                    <c:v>1.9</c:v>
                  </c:pt>
                  <c:pt idx="1">
                    <c:v>1.8</c:v>
                  </c:pt>
                  <c:pt idx="2">
                    <c:v>1.9</c:v>
                  </c:pt>
                  <c:pt idx="3">
                    <c:v>1.9</c:v>
                  </c:pt>
                  <c:pt idx="4">
                    <c:v>2</c:v>
                  </c:pt>
                  <c:pt idx="5">
                    <c:v>1.9</c:v>
                  </c:pt>
                  <c:pt idx="6">
                    <c:v>2</c:v>
                  </c:pt>
                  <c:pt idx="7">
                    <c:v>2.1</c:v>
                  </c:pt>
                  <c:pt idx="8">
                    <c:v>2.1</c:v>
                  </c:pt>
                  <c:pt idx="9">
                    <c:v>2.1</c:v>
                  </c:pt>
                  <c:pt idx="10">
                    <c:v>2.1</c:v>
                  </c:pt>
                  <c:pt idx="11">
                    <c:v>2.1</c:v>
                  </c:pt>
                </c:numCache>
              </c:numRef>
            </c:plus>
            <c:minus>
              <c:numRef>
                <c:f>Bjertorp!$I$2:$I$13</c:f>
                <c:numCache>
                  <c:formatCode>General</c:formatCode>
                  <c:ptCount val="12"/>
                  <c:pt idx="0">
                    <c:v>1.9</c:v>
                  </c:pt>
                  <c:pt idx="1">
                    <c:v>1.8</c:v>
                  </c:pt>
                  <c:pt idx="2">
                    <c:v>1.9</c:v>
                  </c:pt>
                  <c:pt idx="3">
                    <c:v>1.9</c:v>
                  </c:pt>
                  <c:pt idx="4">
                    <c:v>2</c:v>
                  </c:pt>
                  <c:pt idx="5">
                    <c:v>1.9</c:v>
                  </c:pt>
                  <c:pt idx="6">
                    <c:v>2</c:v>
                  </c:pt>
                  <c:pt idx="7">
                    <c:v>2.1</c:v>
                  </c:pt>
                  <c:pt idx="8">
                    <c:v>2.1</c:v>
                  </c:pt>
                  <c:pt idx="9">
                    <c:v>2.1</c:v>
                  </c:pt>
                  <c:pt idx="10">
                    <c:v>2.1</c:v>
                  </c:pt>
                  <c:pt idx="11">
                    <c:v>2.1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xVal>
            <c:numRef>
              <c:f>Bjertorp!$C$2:$C$13</c:f>
              <c:numCache>
                <c:formatCode>General</c:formatCode>
                <c:ptCount val="12"/>
                <c:pt idx="0">
                  <c:v>1966</c:v>
                </c:pt>
                <c:pt idx="1">
                  <c:v>1971</c:v>
                </c:pt>
                <c:pt idx="2">
                  <c:v>1975</c:v>
                </c:pt>
                <c:pt idx="3">
                  <c:v>1979</c:v>
                </c:pt>
                <c:pt idx="4">
                  <c:v>1983</c:v>
                </c:pt>
                <c:pt idx="5">
                  <c:v>1987</c:v>
                </c:pt>
                <c:pt idx="6">
                  <c:v>1992</c:v>
                </c:pt>
                <c:pt idx="7">
                  <c:v>1995</c:v>
                </c:pt>
                <c:pt idx="8">
                  <c:v>2001</c:v>
                </c:pt>
                <c:pt idx="9">
                  <c:v>2007</c:v>
                </c:pt>
                <c:pt idx="10">
                  <c:v>2013</c:v>
                </c:pt>
                <c:pt idx="11">
                  <c:v>2019</c:v>
                </c:pt>
              </c:numCache>
            </c:numRef>
          </c:xVal>
          <c:yVal>
            <c:numRef>
              <c:f>Bjertorp!$H$2:$H$13</c:f>
              <c:numCache>
                <c:formatCode>General</c:formatCode>
                <c:ptCount val="12"/>
                <c:pt idx="0">
                  <c:v>-31</c:v>
                </c:pt>
                <c:pt idx="1">
                  <c:v>-84</c:v>
                </c:pt>
                <c:pt idx="2">
                  <c:v>5.7</c:v>
                </c:pt>
                <c:pt idx="3">
                  <c:v>1.5</c:v>
                </c:pt>
                <c:pt idx="4">
                  <c:v>-1</c:v>
                </c:pt>
                <c:pt idx="5">
                  <c:v>-2.8</c:v>
                </c:pt>
                <c:pt idx="6">
                  <c:v>-15.4</c:v>
                </c:pt>
                <c:pt idx="7">
                  <c:v>-61.5</c:v>
                </c:pt>
                <c:pt idx="8">
                  <c:v>-9.9</c:v>
                </c:pt>
                <c:pt idx="9">
                  <c:v>-15.1</c:v>
                </c:pt>
                <c:pt idx="10">
                  <c:v>-24</c:v>
                </c:pt>
                <c:pt idx="11">
                  <c:v>-31.2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0C4-4464-B6E8-E6DA2B1C9F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8381232"/>
        <c:axId val="1878378832"/>
      </c:scatterChart>
      <c:valAx>
        <c:axId val="1878381232"/>
        <c:scaling>
          <c:orientation val="minMax"/>
          <c:max val="202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b="1"/>
                  <a:t>Calendar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78832"/>
        <c:crosses val="autoZero"/>
        <c:crossBetween val="midCat"/>
      </c:valAx>
      <c:valAx>
        <c:axId val="18783788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sv-SE" sz="1100" b="1" i="0" u="none" strike="noStrike" baseline="0">
                    <a:effectLst/>
                  </a:rPr>
                  <a:t>∆14C (‰)</a:t>
                </a:r>
                <a:r>
                  <a:rPr lang="sv-SE" sz="1100" b="0" i="0" u="none" strike="noStrike" baseline="0"/>
                  <a:t> </a:t>
                </a:r>
                <a:endParaRPr lang="sv-SE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sv-S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sv-SE"/>
          </a:p>
        </c:txPr>
        <c:crossAx val="18783812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100">
          <a:solidFill>
            <a:sysClr val="windowText" lastClr="000000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sv-S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48AD1A-57E2-4DC4-9B41-D25FB5D8BC27}" type="datetimeFigureOut">
              <a:rPr lang="sv-SE" smtClean="0"/>
              <a:t>2026-04-20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88F750-BEE8-4A9E-8B65-AD426779F65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42191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88F750-BEE8-4A9E-8B65-AD426779F659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555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6CB6C-E933-B89B-C605-03DB565C4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1F45EE-07F8-DF09-FF03-360DBCA80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63AE8-8DC4-01DD-C78A-425F52BE7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0911-CCE1-4426-A795-FBB7E6668227}" type="datetimeFigureOut">
              <a:rPr lang="sv-SE" smtClean="0"/>
              <a:t>2026-04-20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69658-E212-EE2F-C85D-A3B91D0F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9A73E-FB8C-3A6C-A308-C289B5B63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8743-60D5-4C80-A723-F1E07C410C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60213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2E333-2628-1EA2-AB5C-505F07A13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4198C-9DF3-7891-6891-DEC8D3EB4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5227B-30E9-C27A-AE14-51FDB85F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0911-CCE1-4426-A795-FBB7E6668227}" type="datetimeFigureOut">
              <a:rPr lang="sv-SE" smtClean="0"/>
              <a:t>2026-04-20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720EB-7236-3394-2212-DABB5D07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17FC7-B4E8-2C97-9A35-0958F0D4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8743-60D5-4C80-A723-F1E07C410C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5485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05C9-493E-63BE-ADB7-A091A4995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CE70D-FBB9-41B8-5D99-FFA97391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9BA2D-A9DC-F5B7-1047-36091F1F0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0911-CCE1-4426-A795-FBB7E6668227}" type="datetimeFigureOut">
              <a:rPr lang="sv-SE" smtClean="0"/>
              <a:t>2026-04-20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2959C-4DAF-9539-DC65-FA379B7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882AD-822A-402B-4127-0B4AA6267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8743-60D5-4C80-A723-F1E07C410C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4784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89035-F992-68E6-FB86-5BF6D9A19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D50E7-2380-811C-B9E7-861ADD830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7ECE2-4239-7A58-9FA3-3048BDDC8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95E93-9E50-CDA9-EE86-682FDF4C8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0911-CCE1-4426-A795-FBB7E6668227}" type="datetimeFigureOut">
              <a:rPr lang="sv-SE" smtClean="0"/>
              <a:t>2026-04-20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E05CF9-D324-FA24-3DCC-9836F337A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2A47D-570B-1F16-48C5-D4B59481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8743-60D5-4C80-A723-F1E07C410C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60954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C5D78-9676-5555-D6F9-DCC1A7BB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632C3-6490-8997-584F-305FCDC52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D9A28-D3B8-33AE-30B7-26C925DD0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2C3871-E674-B9C4-BA72-4FC8534A60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F153E6-DF38-38BA-5827-0E4BE5C76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C45AEF-ED58-8337-5A89-2FDCC43F0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0911-CCE1-4426-A795-FBB7E6668227}" type="datetimeFigureOut">
              <a:rPr lang="sv-SE" smtClean="0"/>
              <a:t>2026-04-20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519D2A-C04E-F2FD-006A-757B85FA5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4DB3BF-790C-1FC9-9648-EC60BF07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8743-60D5-4C80-A723-F1E07C410C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2292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C4B52-1625-C6BE-1047-8AF50D487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1DD80-EDFD-D965-8515-CFA409AF0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0911-CCE1-4426-A795-FBB7E6668227}" type="datetimeFigureOut">
              <a:rPr lang="sv-SE" smtClean="0"/>
              <a:t>2026-04-20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DA13D6-0381-354C-5369-AD8F0B964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807230-D067-4B68-698C-136E1F81E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8743-60D5-4C80-A723-F1E07C410C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9950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FF26F6-2C39-593F-CF1C-095E14A84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0911-CCE1-4426-A795-FBB7E6668227}" type="datetimeFigureOut">
              <a:rPr lang="sv-SE" smtClean="0"/>
              <a:t>2026-04-20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2451F3-3097-33D0-C106-DA2F9DB3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9DB3F-6A51-814B-5792-53A99AC51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8743-60D5-4C80-A723-F1E07C410C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37362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F5FF4-16B4-3229-FFE7-6EBDB538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37397-80B1-AB76-B41B-5F715F1DD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D81C0-23B2-E1D7-720B-77BFFA334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6CD27-C0F9-2133-14A4-69D68487A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0911-CCE1-4426-A795-FBB7E6668227}" type="datetimeFigureOut">
              <a:rPr lang="sv-SE" smtClean="0"/>
              <a:t>2026-04-20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ED379-C29C-1B40-1022-5EC440EB3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FAAB6-D21A-BC43-256F-4B1C4D558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8743-60D5-4C80-A723-F1E07C410C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4285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6C541-8A43-78DE-973B-3423AF163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BABA32-1B67-3B94-0FF0-E79D589A0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048B9C-5421-34DC-DACD-CBAF4C4E3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B944D-8747-5239-1FFC-F07DC2E0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0911-CCE1-4426-A795-FBB7E6668227}" type="datetimeFigureOut">
              <a:rPr lang="sv-SE" smtClean="0"/>
              <a:t>2026-04-20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F16A5-24CE-2BAF-331A-4A276002D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CC2CD-D24D-B540-5C31-CBD6CEE18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8743-60D5-4C80-A723-F1E07C410C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77218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61E3A-4228-24C0-EA9C-89B522FE4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291EF-1B7C-248B-CDCA-6513F0BED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B7A68-D55F-FE8F-B9B9-99073CDA8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0911-CCE1-4426-A795-FBB7E6668227}" type="datetimeFigureOut">
              <a:rPr lang="sv-SE" smtClean="0"/>
              <a:t>2026-04-20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9BC4C-B234-85DC-443B-0D98728F7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D47AF-A7FB-D7BE-4840-3A28CE8F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8743-60D5-4C80-A723-F1E07C410C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93974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C6D807-20D9-5180-9DD4-E301DD346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D20F7-89B7-74E3-BBBB-39AECC1E1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0952F-9B22-5BFD-6145-DC726FE6B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90911-CCE1-4426-A795-FBB7E6668227}" type="datetimeFigureOut">
              <a:rPr lang="sv-SE" smtClean="0"/>
              <a:t>2026-04-20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C4309-4BC0-E409-B372-1DC8AD455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288DA-62B3-C9BC-1336-1631E2278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8743-60D5-4C80-A723-F1E07C410C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0726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B1444-FCAE-2B94-3C7B-642F3D366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1B0E6-F4B2-AC8F-9C2E-4E8A30704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138AA-5925-8685-CBF6-760F092CD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90911-CCE1-4426-A795-FBB7E6668227}" type="datetimeFigureOut">
              <a:rPr lang="sv-SE" smtClean="0"/>
              <a:t>2026-04-20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ABB99-6F4B-0A37-1C80-5E3ED6135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112F9-B622-CED7-2DED-BEEA7449C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28743-60D5-4C80-A723-F1E07C410CA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91823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5220FB4-CA15-4221-8A10-BB63195279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6255850"/>
              </p:ext>
            </p:extLst>
          </p:nvPr>
        </p:nvGraphicFramePr>
        <p:xfrm>
          <a:off x="0" y="270668"/>
          <a:ext cx="4705350" cy="2824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0C16DF3-8488-40E6-B9A2-3DC4B3AF85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0648410"/>
              </p:ext>
            </p:extLst>
          </p:nvPr>
        </p:nvGraphicFramePr>
        <p:xfrm>
          <a:off x="4705350" y="270668"/>
          <a:ext cx="4705350" cy="2824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1BC0EC0-BB3E-449A-8C43-79076D24C5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8751855"/>
              </p:ext>
            </p:extLst>
          </p:nvPr>
        </p:nvGraphicFramePr>
        <p:xfrm>
          <a:off x="0" y="3429000"/>
          <a:ext cx="4705350" cy="2824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8FDF604-0C6E-44EE-887C-B3C7D5CC9F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5793171"/>
              </p:ext>
            </p:extLst>
          </p:nvPr>
        </p:nvGraphicFramePr>
        <p:xfrm>
          <a:off x="4705350" y="3428999"/>
          <a:ext cx="4705350" cy="2824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698390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4914E13-248B-4011-8BE2-D9FE0D87BF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71913"/>
              </p:ext>
            </p:extLst>
          </p:nvPr>
        </p:nvGraphicFramePr>
        <p:xfrm>
          <a:off x="206375" y="188118"/>
          <a:ext cx="4705350" cy="2824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A5E961B-11D2-4B03-8D15-5DDE1C5F11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5700022"/>
              </p:ext>
            </p:extLst>
          </p:nvPr>
        </p:nvGraphicFramePr>
        <p:xfrm>
          <a:off x="5006975" y="188117"/>
          <a:ext cx="4705350" cy="2824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ED97ECE-C2B1-4566-A195-F6D6B91FC4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4543687"/>
              </p:ext>
            </p:extLst>
          </p:nvPr>
        </p:nvGraphicFramePr>
        <p:xfrm>
          <a:off x="358775" y="3236118"/>
          <a:ext cx="4705350" cy="2824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195D305-925C-4A71-B34A-0262CB3E2F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1564984"/>
              </p:ext>
            </p:extLst>
          </p:nvPr>
        </p:nvGraphicFramePr>
        <p:xfrm>
          <a:off x="5165725" y="3236118"/>
          <a:ext cx="4705350" cy="2824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126121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DB2E3EA-4D0B-4C7C-ADB3-5C96040D22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4044155"/>
              </p:ext>
            </p:extLst>
          </p:nvPr>
        </p:nvGraphicFramePr>
        <p:xfrm>
          <a:off x="377825" y="395288"/>
          <a:ext cx="4705350" cy="2824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24397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55</Words>
  <Application>Microsoft Office PowerPoint</Application>
  <PresentationFormat>Widescreen</PresentationFormat>
  <Paragraphs>28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LAYLA MARQUEZ SAN EMETERIO</dc:creator>
  <cp:lastModifiedBy>Teneille Nel</cp:lastModifiedBy>
  <cp:revision>5</cp:revision>
  <dcterms:created xsi:type="dcterms:W3CDTF">2025-05-05T14:59:49Z</dcterms:created>
  <dcterms:modified xsi:type="dcterms:W3CDTF">2026-04-20T14:35:02Z</dcterms:modified>
</cp:coreProperties>
</file>